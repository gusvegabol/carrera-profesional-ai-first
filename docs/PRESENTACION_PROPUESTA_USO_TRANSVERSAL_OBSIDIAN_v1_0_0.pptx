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24c1fad8534b25" /><Relationship Type="http://schemas.openxmlformats.org/officeDocument/2006/relationships/extended-properties" Target="/docProps/app.xml" Id="Rfccc61bc5312488b" /><Relationship Type="http://schemas.openxmlformats.org/officeDocument/2006/relationships/officeDocument" Target="/ppt/presentation.xml" Id="Rd5846b7fccc343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f9b0c9fa444e8a"/>
  </p:sldMasterIdLst>
  <p:notesMasterIdLst>
    <p:notesMasterId xmlns:r="http://schemas.openxmlformats.org/officeDocument/2006/relationships" r:id="R267d20769a6743d6"/>
  </p:notesMasterIdLst>
  <p:sldIdLst>
    <p:sldId xmlns:r="http://schemas.openxmlformats.org/officeDocument/2006/relationships" id="256" r:id="R33089675724e4924"/>
    <p:sldId xmlns:r="http://schemas.openxmlformats.org/officeDocument/2006/relationships" id="257" r:id="Rb359e52a8be242c6"/>
    <p:sldId xmlns:r="http://schemas.openxmlformats.org/officeDocument/2006/relationships" id="258" r:id="R6cf3d67aa16b4620"/>
    <p:sldId xmlns:r="http://schemas.openxmlformats.org/officeDocument/2006/relationships" id="259" r:id="R5f5c9ae8077943e6"/>
    <p:sldId xmlns:r="http://schemas.openxmlformats.org/officeDocument/2006/relationships" id="260" r:id="R7659e93b0a9b47e0"/>
    <p:sldId xmlns:r="http://schemas.openxmlformats.org/officeDocument/2006/relationships" id="261" r:id="R4129468b65464de6"/>
    <p:sldId xmlns:r="http://schemas.openxmlformats.org/officeDocument/2006/relationships" id="262" r:id="R59b73d9be8f047bd"/>
    <p:sldId xmlns:r="http://schemas.openxmlformats.org/officeDocument/2006/relationships" id="263" r:id="Rfa7e1210fb9843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e6ee727bcc41c1" /><Relationship Type="http://schemas.openxmlformats.org/officeDocument/2006/relationships/slideMaster" Target="/ppt/slideMasters/slideMaster1.xml" Id="R79f9b0c9fa444e8a" /><Relationship Type="http://schemas.openxmlformats.org/officeDocument/2006/relationships/notesMaster" Target="/ppt/notesMasters/notesMaster1.xml" Id="R267d20769a6743d6" /><Relationship Type="http://schemas.openxmlformats.org/officeDocument/2006/relationships/presProps" Target="/ppt/presProps.xml" Id="R0ca408f84e5f4aaf" /><Relationship Type="http://schemas.openxmlformats.org/officeDocument/2006/relationships/tableStyles" Target="/ppt/tableStyles.xml" Id="R4722e2c09e454a14" /><Relationship Type="http://schemas.openxmlformats.org/officeDocument/2006/relationships/slide" Target="/ppt/slides/slide1.xml" Id="R33089675724e4924" /><Relationship Type="http://schemas.openxmlformats.org/officeDocument/2006/relationships/slide" Target="/ppt/slides/slide2.xml" Id="Rb359e52a8be242c6" /><Relationship Type="http://schemas.openxmlformats.org/officeDocument/2006/relationships/slide" Target="/ppt/slides/slide3.xml" Id="R6cf3d67aa16b4620" /><Relationship Type="http://schemas.openxmlformats.org/officeDocument/2006/relationships/slide" Target="/ppt/slides/slide4.xml" Id="R5f5c9ae8077943e6" /><Relationship Type="http://schemas.openxmlformats.org/officeDocument/2006/relationships/slide" Target="/ppt/slides/slide5.xml" Id="R7659e93b0a9b47e0" /><Relationship Type="http://schemas.openxmlformats.org/officeDocument/2006/relationships/slide" Target="/ppt/slides/slide6.xml" Id="R4129468b65464de6" /><Relationship Type="http://schemas.openxmlformats.org/officeDocument/2006/relationships/slide" Target="/ppt/slides/slide7.xml" Id="R59b73d9be8f047bd" /><Relationship Type="http://schemas.openxmlformats.org/officeDocument/2006/relationships/slide" Target="/ppt/slides/slide8.xml" Id="Rfa7e1210fb9843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184142cb004a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3180ebefba4870" /><Relationship Type="http://schemas.openxmlformats.org/officeDocument/2006/relationships/notesMaster" Target="/ppt/notesMasters/notesMaster1.xml" Id="R670f7bff3afb40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db45ca0d654184" /><Relationship Type="http://schemas.openxmlformats.org/officeDocument/2006/relationships/notesMaster" Target="/ppt/notesMasters/notesMaster1.xml" Id="R8461472348c941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6f43615341444a" /><Relationship Type="http://schemas.openxmlformats.org/officeDocument/2006/relationships/notesMaster" Target="/ppt/notesMasters/notesMaster1.xml" Id="R5ab627baec714d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f334820e340e9" /><Relationship Type="http://schemas.openxmlformats.org/officeDocument/2006/relationships/notesMaster" Target="/ppt/notesMasters/notesMaster1.xml" Id="R6c55e4d4e4b645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eabdabba9b4e96" /><Relationship Type="http://schemas.openxmlformats.org/officeDocument/2006/relationships/notesMaster" Target="/ppt/notesMasters/notesMaster1.xml" Id="R97ce7040fd7146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44416fa224405b" /><Relationship Type="http://schemas.openxmlformats.org/officeDocument/2006/relationships/notesMaster" Target="/ppt/notesMasters/notesMaster1.xml" Id="Rdbd1528e769b4f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11a6ebe2f84d81" /><Relationship Type="http://schemas.openxmlformats.org/officeDocument/2006/relationships/notesMaster" Target="/ppt/notesMasters/notesMaster1.xml" Id="Rada64934b6584e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0b7582961e406f" /><Relationship Type="http://schemas.openxmlformats.org/officeDocument/2006/relationships/notesMaster" Target="/ppt/notesMasters/notesMaster1.xml" Id="R4b9774323b7a40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3ef855d60042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66288061a44c0e" /><Relationship Type="http://schemas.openxmlformats.org/officeDocument/2006/relationships/slideLayout" Target="/ppt/slideLayouts/slideLayout1.xml" Id="Rd042d252680849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42d252680849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487b6299645f0" /><Relationship Type="http://schemas.openxmlformats.org/officeDocument/2006/relationships/notesSlide" Target="/ppt/notesSlides/notesSlide1.xml" Id="R44071d6c186a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f840e16d8447a" /><Relationship Type="http://schemas.openxmlformats.org/officeDocument/2006/relationships/notesSlide" Target="/ppt/notesSlides/notesSlide2.xml" Id="Rdc316c7f442f44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06e529e624428" /><Relationship Type="http://schemas.openxmlformats.org/officeDocument/2006/relationships/notesSlide" Target="/ppt/notesSlides/notesSlide3.xml" Id="Refe7447c997345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2ef966928449a" /><Relationship Type="http://schemas.openxmlformats.org/officeDocument/2006/relationships/notesSlide" Target="/ppt/notesSlides/notesSlide4.xml" Id="Rd12dcc02bc7d4d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e64a35e1c4d63" /><Relationship Type="http://schemas.openxmlformats.org/officeDocument/2006/relationships/notesSlide" Target="/ppt/notesSlides/notesSlide5.xml" Id="R1aeeafeb1ce148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526594164164" /><Relationship Type="http://schemas.openxmlformats.org/officeDocument/2006/relationships/notesSlide" Target="/ppt/notesSlides/notesSlide6.xml" Id="R376ed6325b0a4b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7aad2ce934341" /><Relationship Type="http://schemas.openxmlformats.org/officeDocument/2006/relationships/notesSlide" Target="/ppt/notesSlides/notesSlide7.xml" Id="Rd055ea77a7ae40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743ee8669432e" /><Relationship Type="http://schemas.openxmlformats.org/officeDocument/2006/relationships/notesSlide" Target="/ppt/notesSlides/notesSlide8.xml" Id="Rc087340438df4c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5718F-CB7C-47B6-8123-B181BD7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2389C744-1FDB-43A7-B5B5-B8955AA7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CARRERA AI · PROPUESTA PARA DECISIÓN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C9EB58C-F7CD-4EDF-8CBF-23264715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429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Obsidian para entender el proyecto como un todo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6FBF44B-804C-4245-BD19-893A67E1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647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73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Propuesta de bóveda transversal gobernada: mejor consulta y enlaces, sin duplicar fuentes ni perder las fronteras de PCS.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FAE16-4D1C-44A8-A053-F38F40FA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47750"/>
            <a:ext cx="2857500" cy="4095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cover-metric">
            <a:extLst xmlns:a="http://schemas.openxmlformats.org/drawingml/2006/main">
              <a:ext uri="{FF2B5EF4-FFF2-40B4-BE49-F238E27FC236}">
                <a16:creationId xmlns:a16="http://schemas.microsoft.com/office/drawing/2014/main" id="{1D581271-934F-4C29-866D-697131DD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50"/>
          </a:bodyPr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98</a:t>
            </a:r>
          </a:p>
        </p:txBody>
      </p:sp>
      <p:sp>
        <p:nvSpPr>
          <p:cNvPr id="7" name="cover-metric-label">
            <a:extLst xmlns:a="http://schemas.openxmlformats.org/drawingml/2006/main">
              <a:ext uri="{FF2B5EF4-FFF2-40B4-BE49-F238E27FC236}">
                <a16:creationId xmlns:a16="http://schemas.microsoft.com/office/drawing/2014/main" id="{93DA2B46-1B3A-4584-BEBF-5E3B8681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9375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6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Markdown alcanzables</a:t>
            </a:r>
          </a:p>
          <a:p xmlns:a="http://schemas.openxmlformats.org/drawingml/2006/main">
            <a:pPr algn="ctr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para una navegación única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4ACE3-CA96-4D89-940C-AF0E93AB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cover-split">
            <a:extLst xmlns:a="http://schemas.openxmlformats.org/drawingml/2006/main">
              <a:ext uri="{FF2B5EF4-FFF2-40B4-BE49-F238E27FC236}">
                <a16:creationId xmlns:a16="http://schemas.microsoft.com/office/drawing/2014/main" id="{505977D7-7373-466A-8180-72B36565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70 · bóveda de entrevista</a:t>
            </a:r>
          </a:p>
          <a:p xmlns:a="http://schemas.openxmlformats.org/drawingml/2006/main">
            <a:pPr algn="ctr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26 · documentación</a:t>
            </a:r>
          </a:p>
          <a:p xmlns:a="http://schemas.openxmlformats.org/drawingml/2006/main">
            <a:pPr algn="ctr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2 · raíz</a:t>
            </a:r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F561A85A-69F7-4870-911A-F1FEE9E2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17 de julio de 2026</a:t>
            </a:r>
          </a:p>
        </p:txBody>
      </p:sp>
    </p:spTree>
    <p:extLst>
      <p:ext uri="{BB962C8B-B14F-4D97-AF65-F5344CB8AC3E}">
        <p14:creationId xmlns:p14="http://schemas.microsoft.com/office/powerpoint/2010/main" val="7754211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5DDA8832-561D-46D0-BD7C-046F9E62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SITUACIÓN ACTUAL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2E71D48-B80D-4347-B0EC-C37B29D7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conocimiento está repartido; la lectura sigue fragmentada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7A637-9D1C-47F5-B12F-F837FDA9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number-2">
            <a:extLst xmlns:a="http://schemas.openxmlformats.org/drawingml/2006/main">
              <a:ext uri="{FF2B5EF4-FFF2-40B4-BE49-F238E27FC236}">
                <a16:creationId xmlns:a16="http://schemas.microsoft.com/office/drawing/2014/main" id="{54628FD5-CB14-4CA8-8C8B-E4677CDC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20C00-0397-4264-8215-9661EDCB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2A75C-A7EE-4973-A50B-799D6B31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ard-title-64-190">
            <a:extLst xmlns:a="http://schemas.openxmlformats.org/drawingml/2006/main">
              <a:ext uri="{FF2B5EF4-FFF2-40B4-BE49-F238E27FC236}">
                <a16:creationId xmlns:a16="http://schemas.microsoft.com/office/drawing/2014/main" id="{D20BA5EA-DB97-49B3-B2B6-EF6C8DDF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70 Markdown</a:t>
            </a:r>
          </a:p>
        </p:txBody>
      </p:sp>
      <p:sp>
        <p:nvSpPr>
          <p:cNvPr id="8" name="card-body-64-190">
            <a:extLst xmlns:a="http://schemas.openxmlformats.org/drawingml/2006/main">
              <a:ext uri="{FF2B5EF4-FFF2-40B4-BE49-F238E27FC236}">
                <a16:creationId xmlns:a16="http://schemas.microsoft.com/office/drawing/2014/main" id="{FD7D9AAC-3C47-4592-9399-A3E2F856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838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Conocimiento, patrones y playbook de entrevista dentro de la bóveda actual.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26410-9981-43B9-99BC-317A6E66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B245F-4D4B-4E6B-A511-9F4E7740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11" name="card-title-465-190">
            <a:extLst xmlns:a="http://schemas.openxmlformats.org/drawingml/2006/main">
              <a:ext uri="{FF2B5EF4-FFF2-40B4-BE49-F238E27FC236}">
                <a16:creationId xmlns:a16="http://schemas.microsoft.com/office/drawing/2014/main" id="{C8B99F11-A9B5-4DB2-816E-A51B980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383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26 Markdown</a:t>
            </a:r>
          </a:p>
        </p:txBody>
      </p:sp>
      <p:sp>
        <p:nvSpPr>
          <p:cNvPr id="12" name="card-body-465-190">
            <a:extLst xmlns:a="http://schemas.openxmlformats.org/drawingml/2006/main">
              <a:ext uri="{FF2B5EF4-FFF2-40B4-BE49-F238E27FC236}">
                <a16:creationId xmlns:a16="http://schemas.microsoft.com/office/drawing/2014/main" id="{72AF851A-DFDD-4803-9B5A-6DD1A235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14600"/>
            <a:ext cx="2838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Definición funcional, versionado, metodología y propuestas en docs.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D8DB1-7BFE-49EE-9D70-4ABDA8D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3337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69768-5878-4570-9D46-EE410844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7620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solidFill>
              <a:srgbClr val="F79009"/>
            </a:solidFill>
            <a:prstDash val="solid"/>
          </a:ln>
        </p:spPr>
      </p:sp>
      <p:sp>
        <p:nvSpPr>
          <p:cNvPr id="15" name="card-title-866-190">
            <a:extLst xmlns:a="http://schemas.openxmlformats.org/drawingml/2006/main">
              <a:ext uri="{FF2B5EF4-FFF2-40B4-BE49-F238E27FC236}">
                <a16:creationId xmlns:a16="http://schemas.microsoft.com/office/drawing/2014/main" id="{E895DC19-55B8-42E5-A4A9-9A4E81D0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22 Markdown PCS</a:t>
            </a:r>
          </a:p>
        </p:txBody>
      </p:sp>
      <p:sp>
        <p:nvSpPr>
          <p:cNvPr id="16" name="card-body-866-190">
            <a:extLst xmlns:a="http://schemas.openxmlformats.org/drawingml/2006/main">
              <a:ext uri="{FF2B5EF4-FFF2-40B4-BE49-F238E27FC236}">
                <a16:creationId xmlns:a16="http://schemas.microsoft.com/office/drawing/2014/main" id="{17401DD4-31A7-4519-BFC1-D30B41EC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838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Estado, decisiones, acciones y sesiones que aportan continuidad operativa.</a:t>
            </a:r>
          </a:p>
        </p:txBody>
      </p:sp>
      <p:sp>
        <p:nvSpPr>
          <p:cNvPr id="17" name="evidence-conclusion">
            <a:extLst xmlns:a="http://schemas.openxmlformats.org/drawingml/2006/main">
              <a:ext uri="{FF2B5EF4-FFF2-40B4-BE49-F238E27FC236}">
                <a16:creationId xmlns:a16="http://schemas.microsoft.com/office/drawing/2014/main" id="{5646902D-E0F9-43E7-98D6-E6BF67BF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limitación no es de archivos: es de contexto. Hoy la navegación de Obsidian cubre solo una parte del conjunto.</a:t>
            </a:r>
          </a:p>
        </p:txBody>
      </p:sp>
      <p:sp>
        <p:nvSpPr>
          <p:cNvPr id="18" name="evidence-detail">
            <a:extLst xmlns:a="http://schemas.openxmlformats.org/drawingml/2006/main">
              <a:ext uri="{FF2B5EF4-FFF2-40B4-BE49-F238E27FC236}">
                <a16:creationId xmlns:a16="http://schemas.microsoft.com/office/drawing/2014/main" id="{E230D34A-D79F-49B3-85DF-6CA6B197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Dato adicional: existen cinco nombres de nota repetidos; los nuevos enlaces necesitarán ruta cuando el título no sea único.</a:t>
            </a:r>
          </a:p>
        </p:txBody>
      </p:sp>
    </p:spTree>
    <p:extLst>
      <p:ext uri="{BB962C8B-B14F-4D97-AF65-F5344CB8AC3E}">
        <p14:creationId xmlns:p14="http://schemas.microsoft.com/office/powerpoint/2010/main" val="10049256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FA38E743-1AC9-4459-8D07-EE5F86F5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ALTERNATIVAS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942FD62-81A5-433C-B2A5-53927884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Cuatro opciones resuelven problemas distintos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7B498-CC10-49E5-BC42-29C95ABE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number-3">
            <a:extLst xmlns:a="http://schemas.openxmlformats.org/drawingml/2006/main">
              <a:ext uri="{FF2B5EF4-FFF2-40B4-BE49-F238E27FC236}">
                <a16:creationId xmlns:a16="http://schemas.microsoft.com/office/drawing/2014/main" id="{E917967D-AFF1-4924-A5C9-8663072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C7EF6-6876-49CE-9C77-CF1CEB58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0B6A2-5864-4797-9F6C-235D2169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7" name="card-title-64-185">
            <a:extLst xmlns:a="http://schemas.openxmlformats.org/drawingml/2006/main">
              <a:ext uri="{FF2B5EF4-FFF2-40B4-BE49-F238E27FC236}">
                <a16:creationId xmlns:a16="http://schemas.microsoft.com/office/drawing/2014/main" id="{FDB40842-F809-46BB-8649-5CE9F9DB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 · Mantener la bóveda local</a:t>
            </a:r>
          </a:p>
        </p:txBody>
      </p:sp>
      <p:sp>
        <p:nvSpPr>
          <p:cNvPr id="8" name="card-body-64-185">
            <a:extLst xmlns:a="http://schemas.openxmlformats.org/drawingml/2006/main">
              <a:ext uri="{FF2B5EF4-FFF2-40B4-BE49-F238E27FC236}">
                <a16:creationId xmlns:a16="http://schemas.microsoft.com/office/drawing/2014/main" id="{3A0B93EE-FB5F-4420-AE0E-B22E6374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455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Máxima estabilidad; no mejora la consulta ni los enlaces con docs y PCS.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A58C4D-ADC9-4E8B-8124-62153738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958BC4-D528-4B12-93A9-914A561F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solidFill>
              <a:srgbClr val="F79009"/>
            </a:solidFill>
            <a:prstDash val="solid"/>
          </a:ln>
        </p:spPr>
      </p:sp>
      <p:sp>
        <p:nvSpPr>
          <p:cNvPr id="11" name="card-title-685-185">
            <a:extLst xmlns:a="http://schemas.openxmlformats.org/drawingml/2006/main">
              <a:ext uri="{FF2B5EF4-FFF2-40B4-BE49-F238E27FC236}">
                <a16:creationId xmlns:a16="http://schemas.microsoft.com/office/drawing/2014/main" id="{6362D891-4B06-4730-963F-F16101A1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99072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 · Raíz sin política</a:t>
            </a:r>
          </a:p>
        </p:txBody>
      </p:sp>
      <p:sp>
        <p:nvSpPr>
          <p:cNvPr id="12" name="card-body-685-185">
            <a:extLst xmlns:a="http://schemas.openxmlformats.org/drawingml/2006/main">
              <a:ext uri="{FF2B5EF4-FFF2-40B4-BE49-F238E27FC236}">
                <a16:creationId xmlns:a16="http://schemas.microsoft.com/office/drawing/2014/main" id="{BAA19058-28E7-4A53-B7A1-E0E4722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455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Cobertura inmediata; expone ruido técnico y deja la migración sin gobernar.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CC09C-18F8-43D6-A382-5A6654A9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22906-14ED-4FCE-B2E7-61A4A2FD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15" name="card-title-64-385">
            <a:extLst xmlns:a="http://schemas.openxmlformats.org/drawingml/2006/main">
              <a:ext uri="{FF2B5EF4-FFF2-40B4-BE49-F238E27FC236}">
                <a16:creationId xmlns:a16="http://schemas.microsoft.com/office/drawing/2014/main" id="{CE1F51A5-645B-4451-BD4F-21DB19ED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9572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 · Raíz gobernada</a:t>
            </a:r>
          </a:p>
        </p:txBody>
      </p:sp>
      <p:sp>
        <p:nvSpPr>
          <p:cNvPr id="16" name="card-body-64-385">
            <a:extLst xmlns:a="http://schemas.openxmlformats.org/drawingml/2006/main">
              <a:ext uri="{FF2B5EF4-FFF2-40B4-BE49-F238E27FC236}">
                <a16:creationId xmlns:a16="http://schemas.microsoft.com/office/drawing/2014/main" id="{7AC0C47F-6A5D-42C6-A24D-CD281590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71975"/>
            <a:ext cx="455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Una bóveda, exclusiones claras, enlaces con ruta y migración reversible.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D05BE-8B4D-4E23-B4F8-6A55F05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50482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CC5E6-3A5B-4DB4-970E-E9817AD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76200" cy="1476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438"/>
          </a:solidFill>
          <a:ln xmlns:a="http://schemas.openxmlformats.org/drawingml/2006/main" w="0">
            <a:solidFill>
              <a:srgbClr val="F04438"/>
            </a:solidFill>
            <a:prstDash val="solid"/>
          </a:ln>
        </p:spPr>
      </p:sp>
      <p:sp>
        <p:nvSpPr>
          <p:cNvPr id="19" name="card-title-685-385">
            <a:extLst xmlns:a="http://schemas.openxmlformats.org/drawingml/2006/main">
              <a:ext uri="{FF2B5EF4-FFF2-40B4-BE49-F238E27FC236}">
                <a16:creationId xmlns:a16="http://schemas.microsoft.com/office/drawing/2014/main" id="{C698FE5F-4159-474B-818C-A568EFA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9572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 · Bóveda espejo</a:t>
            </a:r>
          </a:p>
        </p:txBody>
      </p:sp>
      <p:sp>
        <p:nvSpPr>
          <p:cNvPr id="20" name="card-body-685-385">
            <a:extLst xmlns:a="http://schemas.openxmlformats.org/drawingml/2006/main">
              <a:ext uri="{FF2B5EF4-FFF2-40B4-BE49-F238E27FC236}">
                <a16:creationId xmlns:a16="http://schemas.microsoft.com/office/drawing/2014/main" id="{1AF526A2-7D90-4680-BEA6-84784752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71975"/>
            <a:ext cx="455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Interfaz curada; duplica fuentes y añade coste de sincronización.</a:t>
            </a:r>
          </a:p>
        </p:txBody>
      </p:sp>
      <p:sp>
        <p:nvSpPr>
          <p:cNvPr id="21" name="alternatives-note">
            <a:extLst xmlns:a="http://schemas.openxmlformats.org/drawingml/2006/main">
              <a:ext uri="{FF2B5EF4-FFF2-40B4-BE49-F238E27FC236}">
                <a16:creationId xmlns:a16="http://schemas.microsoft.com/office/drawing/2014/main" id="{D1685810-7312-474F-8A8D-CC38B641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decisión debe optimizar la consulta transversal sin crear otra fuente de verdad.</a:t>
            </a:r>
          </a:p>
        </p:txBody>
      </p:sp>
    </p:spTree>
    <p:extLst>
      <p:ext uri="{BB962C8B-B14F-4D97-AF65-F5344CB8AC3E}">
        <p14:creationId xmlns:p14="http://schemas.microsoft.com/office/powerpoint/2010/main" val="4726546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kicker-4">
            <a:extLst xmlns:a="http://schemas.openxmlformats.org/drawingml/2006/main">
              <a:ext uri="{FF2B5EF4-FFF2-40B4-BE49-F238E27FC236}">
                <a16:creationId xmlns:a16="http://schemas.microsoft.com/office/drawing/2014/main" id="{591E3DAE-E5C9-480B-BC3B-F5B7D9C7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COMPARATIVA PONDERADA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0E7702A-D3CE-4C6C-9A7C-9E18138D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bóveda transversal gobernada ofrece el mejor equilibrio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903E3-79C9-4E83-B379-57FB9B98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number-4">
            <a:extLst xmlns:a="http://schemas.openxmlformats.org/drawingml/2006/main">
              <a:ext uri="{FF2B5EF4-FFF2-40B4-BE49-F238E27FC236}">
                <a16:creationId xmlns:a16="http://schemas.microsoft.com/office/drawing/2014/main" id="{944F78FE-E29E-41E6-A596-C499E623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8CCEB-6B64-4B19-8BE7-6C111F4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6" name="head-0">
            <a:extLst xmlns:a="http://schemas.openxmlformats.org/drawingml/2006/main">
              <a:ext uri="{FF2B5EF4-FFF2-40B4-BE49-F238E27FC236}">
                <a16:creationId xmlns:a16="http://schemas.microsoft.com/office/drawing/2014/main" id="{C031F89D-9BBD-4689-9A86-F605F99B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Alternativa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33DC5-ED67-4964-870C-933572EC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57375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8" name="head-1">
            <a:extLst xmlns:a="http://schemas.openxmlformats.org/drawingml/2006/main">
              <a:ext uri="{FF2B5EF4-FFF2-40B4-BE49-F238E27FC236}">
                <a16:creationId xmlns:a16="http://schemas.microsoft.com/office/drawing/2014/main" id="{E8547F89-BD72-4583-A13E-D0BE5258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Consulta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5C70C-45F8-414C-B24E-CF6B94C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1428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0" name="head-2">
            <a:extLst xmlns:a="http://schemas.openxmlformats.org/drawingml/2006/main">
              <a:ext uri="{FF2B5EF4-FFF2-40B4-BE49-F238E27FC236}">
                <a16:creationId xmlns:a16="http://schemas.microsoft.com/office/drawing/2014/main" id="{B8FC2947-992D-4018-8A67-1658C408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1200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D641F-8BA9-4243-80F2-279AD19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57375"/>
            <a:ext cx="1476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2" name="head-3">
            <a:extLst xmlns:a="http://schemas.openxmlformats.org/drawingml/2006/main">
              <a:ext uri="{FF2B5EF4-FFF2-40B4-BE49-F238E27FC236}">
                <a16:creationId xmlns:a16="http://schemas.microsoft.com/office/drawing/2014/main" id="{0D320A47-BD55-43B1-83CC-6B4E79B8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1247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Riesgo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48F0D-37FE-460A-B446-B020549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857375"/>
            <a:ext cx="1619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14" name="head-4">
            <a:extLst xmlns:a="http://schemas.openxmlformats.org/drawingml/2006/main">
              <a:ext uri="{FF2B5EF4-FFF2-40B4-BE49-F238E27FC236}">
                <a16:creationId xmlns:a16="http://schemas.microsoft.com/office/drawing/2014/main" id="{D24AEDD9-1EA6-4B61-B413-9F316C5C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383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A8308-E01B-4681-840B-A8529DD6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row-0-0">
            <a:extLst xmlns:a="http://schemas.openxmlformats.org/drawingml/2006/main">
              <a:ext uri="{FF2B5EF4-FFF2-40B4-BE49-F238E27FC236}">
                <a16:creationId xmlns:a16="http://schemas.microsoft.com/office/drawing/2014/main" id="{8D28F284-3897-4B7D-B30E-A4691357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 · Mantener ámbito local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2759D-2225-4982-B88D-14BF04C7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95550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8" name="row-0-1">
            <a:extLst xmlns:a="http://schemas.openxmlformats.org/drawingml/2006/main">
              <a:ext uri="{FF2B5EF4-FFF2-40B4-BE49-F238E27FC236}">
                <a16:creationId xmlns:a16="http://schemas.microsoft.com/office/drawing/2014/main" id="{0E630408-D026-4A8D-AB68-1BF4675F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670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1/5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5B73E-9028-4236-93A0-FC81205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1428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row-0-2">
            <a:extLst xmlns:a="http://schemas.openxmlformats.org/drawingml/2006/main">
              <a:ext uri="{FF2B5EF4-FFF2-40B4-BE49-F238E27FC236}">
                <a16:creationId xmlns:a16="http://schemas.microsoft.com/office/drawing/2014/main" id="{199F0BFC-2297-4AF6-B99F-DDE9252F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7A62F-75CE-486C-8F73-CCAC7CA4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1476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row-0-3">
            <a:extLst xmlns:a="http://schemas.openxmlformats.org/drawingml/2006/main">
              <a:ext uri="{FF2B5EF4-FFF2-40B4-BE49-F238E27FC236}">
                <a16:creationId xmlns:a16="http://schemas.microsoft.com/office/drawing/2014/main" id="{E30A4F94-AE02-4EF4-BCEC-A028F1ED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Bajo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C7F015-7E26-4139-B0B4-016EEDCB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1619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row-0-4">
            <a:extLst xmlns:a="http://schemas.openxmlformats.org/drawingml/2006/main">
              <a:ext uri="{FF2B5EF4-FFF2-40B4-BE49-F238E27FC236}">
                <a16:creationId xmlns:a16="http://schemas.microsoft.com/office/drawing/2014/main" id="{9CD65878-0BFA-40D5-8A93-E0BF29E0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3,8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2CCFB-9438-46F0-A9B0-3390AED5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6" name="row-1-0">
            <a:extLst xmlns:a="http://schemas.openxmlformats.org/drawingml/2006/main">
              <a:ext uri="{FF2B5EF4-FFF2-40B4-BE49-F238E27FC236}">
                <a16:creationId xmlns:a16="http://schemas.microsoft.com/office/drawing/2014/main" id="{DCCE0590-BF98-49D8-BA17-550704A4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 · Raíz sin política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1FD77-2310-4091-AD71-72E05533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33725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row-1-1">
            <a:extLst xmlns:a="http://schemas.openxmlformats.org/drawingml/2006/main">
              <a:ext uri="{FF2B5EF4-FFF2-40B4-BE49-F238E27FC236}">
                <a16:creationId xmlns:a16="http://schemas.microsoft.com/office/drawing/2014/main" id="{FAA3ABE8-1FC8-4C15-AF65-A972E974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0517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737A0A-8C16-4100-97E4-86D99473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1428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0" name="row-1-2">
            <a:extLst xmlns:a="http://schemas.openxmlformats.org/drawingml/2006/main">
              <a:ext uri="{FF2B5EF4-FFF2-40B4-BE49-F238E27FC236}">
                <a16:creationId xmlns:a16="http://schemas.microsoft.com/office/drawing/2014/main" id="{73D3C187-4F13-49F7-9135-B8D368A7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051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2/5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88B5AA-0B62-409E-82A3-71AE2DE1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33725"/>
            <a:ext cx="1476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2" name="row-1-3">
            <a:extLst xmlns:a="http://schemas.openxmlformats.org/drawingml/2006/main">
              <a:ext uri="{FF2B5EF4-FFF2-40B4-BE49-F238E27FC236}">
                <a16:creationId xmlns:a16="http://schemas.microsoft.com/office/drawing/2014/main" id="{1D9DE576-188D-4E50-A67B-324489DA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0517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Alto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23EA36-CBB4-4468-9C56-1608D0C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33725"/>
            <a:ext cx="1619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4" name="row-1-4">
            <a:extLst xmlns:a="http://schemas.openxmlformats.org/drawingml/2006/main">
              <a:ext uri="{FF2B5EF4-FFF2-40B4-BE49-F238E27FC236}">
                <a16:creationId xmlns:a16="http://schemas.microsoft.com/office/drawing/2014/main" id="{914012F9-F6C7-4304-ACA3-5F802DA5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3051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3,3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7A73E7-B046-4D09-AC55-4EF274D8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6" name="row-2-0">
            <a:extLst xmlns:a="http://schemas.openxmlformats.org/drawingml/2006/main">
              <a:ext uri="{FF2B5EF4-FFF2-40B4-BE49-F238E27FC236}">
                <a16:creationId xmlns:a16="http://schemas.microsoft.com/office/drawing/2014/main" id="{3843193C-9272-46E7-9BAE-414EA3BA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3 · Raíz gobernada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EC93B9-12BE-457D-9858-B4240CE3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71900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38" name="row-2-1">
            <a:extLst xmlns:a="http://schemas.openxmlformats.org/drawingml/2006/main">
              <a:ext uri="{FF2B5EF4-FFF2-40B4-BE49-F238E27FC236}">
                <a16:creationId xmlns:a16="http://schemas.microsoft.com/office/drawing/2014/main" id="{8A68E8D0-4D89-478F-9F64-71B5977E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F24F07-04EE-4BE9-A313-A4805D4A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1428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0" name="row-2-2">
            <a:extLst xmlns:a="http://schemas.openxmlformats.org/drawingml/2006/main">
              <a:ext uri="{FF2B5EF4-FFF2-40B4-BE49-F238E27FC236}">
                <a16:creationId xmlns:a16="http://schemas.microsoft.com/office/drawing/2014/main" id="{77706153-4A07-4A70-A65A-46266FC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5/5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E4FE4D-867E-4D7E-A672-E12D8C0A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71900"/>
            <a:ext cx="1476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2" name="row-2-3">
            <a:extLst xmlns:a="http://schemas.openxmlformats.org/drawingml/2006/main">
              <a:ext uri="{FF2B5EF4-FFF2-40B4-BE49-F238E27FC236}">
                <a16:creationId xmlns:a16="http://schemas.microsoft.com/office/drawing/2014/main" id="{18076913-830B-4E14-AFF1-A46A6945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Medio-bajo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A99B62-47C9-437E-ABA7-5740D051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771900"/>
            <a:ext cx="1619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4" name="row-2-4">
            <a:extLst xmlns:a="http://schemas.openxmlformats.org/drawingml/2006/main">
              <a:ext uri="{FF2B5EF4-FFF2-40B4-BE49-F238E27FC236}">
                <a16:creationId xmlns:a16="http://schemas.microsoft.com/office/drawing/2014/main" id="{FCF3B03E-E829-4EA0-8D5D-6CE3E10E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433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4,4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6C063C-327A-40C2-BFBF-DCA0FBA0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191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6" name="row-3-0">
            <a:extLst xmlns:a="http://schemas.openxmlformats.org/drawingml/2006/main">
              <a:ext uri="{FF2B5EF4-FFF2-40B4-BE49-F238E27FC236}">
                <a16:creationId xmlns:a16="http://schemas.microsoft.com/office/drawing/2014/main" id="{E87DE6F0-A4DB-4F7A-B1F3-F6940FFA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396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 · Bóveda espejo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90E7F3-17C5-4988-AACF-C1B47FC2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410075"/>
            <a:ext cx="15240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8" name="row-3-1">
            <a:extLst xmlns:a="http://schemas.openxmlformats.org/drawingml/2006/main">
              <a:ext uri="{FF2B5EF4-FFF2-40B4-BE49-F238E27FC236}">
                <a16:creationId xmlns:a16="http://schemas.microsoft.com/office/drawing/2014/main" id="{1F401E30-42A8-420D-8546-A6B86282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815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4/5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23AB9B-36C7-4BFB-9F4A-10851C7A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0075"/>
            <a:ext cx="14287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0" name="row-3-2">
            <a:extLst xmlns:a="http://schemas.openxmlformats.org/drawingml/2006/main">
              <a:ext uri="{FF2B5EF4-FFF2-40B4-BE49-F238E27FC236}">
                <a16:creationId xmlns:a16="http://schemas.microsoft.com/office/drawing/2014/main" id="{1F19CE3A-3B49-4A11-9735-340880A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8152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2/5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43FD09-0756-44E6-81EF-614135BC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10075"/>
            <a:ext cx="147637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2" name="row-3-3">
            <a:extLst xmlns:a="http://schemas.openxmlformats.org/drawingml/2006/main">
              <a:ext uri="{FF2B5EF4-FFF2-40B4-BE49-F238E27FC236}">
                <a16:creationId xmlns:a16="http://schemas.microsoft.com/office/drawing/2014/main" id="{BAB0E4A7-E0DB-4857-ABF6-6269DA60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8152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Medio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FD2171-5AB2-4A26-83BB-8E230CD0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410075"/>
            <a:ext cx="1619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4" name="row-3-4">
            <a:extLst xmlns:a="http://schemas.openxmlformats.org/drawingml/2006/main">
              <a:ext uri="{FF2B5EF4-FFF2-40B4-BE49-F238E27FC236}">
                <a16:creationId xmlns:a16="http://schemas.microsoft.com/office/drawing/2014/main" id="{CB929139-E3BF-45BE-A197-F8B6A3EC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8152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2,8</a:t>
            </a:r>
          </a:p>
        </p:txBody>
      </p:sp>
      <p:sp>
        <p:nvSpPr>
          <p:cNvPr id="55" name="score-note">
            <a:extLst xmlns:a="http://schemas.openxmlformats.org/drawingml/2006/main">
              <a:ext uri="{FF2B5EF4-FFF2-40B4-BE49-F238E27FC236}">
                <a16:creationId xmlns:a16="http://schemas.microsoft.com/office/drawing/2014/main" id="{6A2F6264-4220-471E-954C-1FE8FBC1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El resultado ponderado ayuda a debatir: la recomendación depende sobre todo de cumplir el objetivo sin duplicar ni desproteger documentos.</a:t>
            </a:r>
          </a:p>
        </p:txBody>
      </p:sp>
    </p:spTree>
    <p:extLst>
      <p:ext uri="{BB962C8B-B14F-4D97-AF65-F5344CB8AC3E}">
        <p14:creationId xmlns:p14="http://schemas.microsoft.com/office/powerpoint/2010/main" val="10291676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5">
            <a:extLst xmlns:a="http://schemas.openxmlformats.org/drawingml/2006/main">
              <a:ext uri="{FF2B5EF4-FFF2-40B4-BE49-F238E27FC236}">
                <a16:creationId xmlns:a16="http://schemas.microsoft.com/office/drawing/2014/main" id="{8F719F9E-71C3-49A2-B911-E963B298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RECOMENDACIÓN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82DEC5C2-4878-49EE-9D7C-305928C4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raíz puede ser una sola puerta de entrada sin borrar las fronteras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F76EB-E35A-4E8E-AA6B-672939C5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number-5">
            <a:extLst xmlns:a="http://schemas.openxmlformats.org/drawingml/2006/main">
              <a:ext uri="{FF2B5EF4-FFF2-40B4-BE49-F238E27FC236}">
                <a16:creationId xmlns:a16="http://schemas.microsoft.com/office/drawing/2014/main" id="{9C0B996B-9CB1-40A4-9C4A-6D66999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FC3157-9709-480F-AF8B-33F4555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62125"/>
            <a:ext cx="38100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root-node">
            <a:extLst xmlns:a="http://schemas.openxmlformats.org/drawingml/2006/main">
              <a:ext uri="{FF2B5EF4-FFF2-40B4-BE49-F238E27FC236}">
                <a16:creationId xmlns:a16="http://schemas.microsoft.com/office/drawing/2014/main" id="{8E44C6A4-9F09-4C91-9E89-00D952D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335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359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carrera-profesional-ai-first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Bóveda raíz de navegación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5DB08-0C6A-43FC-AA14-1D848D3B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38425"/>
            <a:ext cx="466725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E30CF-4285-4FE3-9E7B-D0B274E8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92201-8041-42FA-B307-89EBAB00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10" name="node-title-0">
            <a:extLst xmlns:a="http://schemas.openxmlformats.org/drawingml/2006/main">
              <a:ext uri="{FF2B5EF4-FFF2-40B4-BE49-F238E27FC236}">
                <a16:creationId xmlns:a16="http://schemas.microsoft.com/office/drawing/2014/main" id="{FE078669-4F61-4CDB-8A8A-8D227A73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docs/</a:t>
            </a:r>
          </a:p>
        </p:txBody>
      </p:sp>
      <p:sp>
        <p:nvSpPr>
          <p:cNvPr id="11" name="node-body-0">
            <a:extLst xmlns:a="http://schemas.openxmlformats.org/drawingml/2006/main">
              <a:ext uri="{FF2B5EF4-FFF2-40B4-BE49-F238E27FC236}">
                <a16:creationId xmlns:a16="http://schemas.microsoft.com/office/drawing/2014/main" id="{8F4A2B0F-961F-4400-BFCB-1F33EE1B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191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Producto · versión · método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5417F8-3C08-4D48-B086-606500D8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38425"/>
            <a:ext cx="200025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81928-4BAA-4FAB-98A6-20C0941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3BD3E-2518-4819-80EC-85966087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95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D4E3D410-24A1-4B8C-8525-859DB4EE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3624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Bóveda de entrevista</a:t>
            </a:r>
          </a:p>
        </p:txBody>
      </p:sp>
      <p:sp>
        <p:nvSpPr>
          <p:cNvPr id="16" name="node-body-1">
            <a:extLst xmlns:a="http://schemas.openxmlformats.org/drawingml/2006/main">
              <a:ext uri="{FF2B5EF4-FFF2-40B4-BE49-F238E27FC236}">
                <a16:creationId xmlns:a16="http://schemas.microsoft.com/office/drawing/2014/main" id="{B34B9A9D-3951-4A32-A66A-368D20EC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434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16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Conocimiento y playbook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A02A9-BAC2-45A6-A518-C274508C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200025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73A3A6-0884-4183-AD6D-E9514EB9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55EAE-F66B-45DE-A1BA-5BFF6289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solidFill>
              <a:srgbClr val="F79009"/>
            </a:solidFill>
            <a:prstDash val="solid"/>
          </a:ln>
        </p:spPr>
      </p:sp>
      <p:sp>
        <p:nvSpPr>
          <p:cNvPr id="20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289CD05F-3F90-4FCC-B1AF-412EDF78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624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.pcs/</a:t>
            </a:r>
          </a:p>
        </p:txBody>
      </p:sp>
      <p:sp>
        <p:nvSpPr>
          <p:cNvPr id="21" name="node-body-2">
            <a:extLst xmlns:a="http://schemas.openxmlformats.org/drawingml/2006/main">
              <a:ext uri="{FF2B5EF4-FFF2-40B4-BE49-F238E27FC236}">
                <a16:creationId xmlns:a16="http://schemas.microsoft.com/office/drawing/2014/main" id="{8CE06AA4-BFE9-4E2F-B4FA-37C080C6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434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559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Estado · decisiones · sesiones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3A315-CAC6-4C03-B212-07E2292C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38425"/>
            <a:ext cx="4667250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B9839-EA0E-4FFD-AA49-BC12530F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619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E5425-B023-4FDD-B0D6-5F938C71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619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75467"/>
          </a:solidFill>
          <a:ln xmlns:a="http://schemas.openxmlformats.org/drawingml/2006/main" w="0">
            <a:solidFill>
              <a:srgbClr val="475467"/>
            </a:solidFill>
            <a:prstDash val="solid"/>
          </a:ln>
        </p:spPr>
      </p:sp>
      <p:sp>
        <p:nvSpPr>
          <p:cNvPr id="25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D56E7DD4-F8F9-4F44-8110-B7A2B9F8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3624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raíz</a:t>
            </a:r>
          </a:p>
        </p:txBody>
      </p:sp>
      <p:sp>
        <p:nvSpPr>
          <p:cNvPr id="26" name="node-body-3">
            <a:extLst xmlns:a="http://schemas.openxmlformats.org/drawingml/2006/main">
              <a:ext uri="{FF2B5EF4-FFF2-40B4-BE49-F238E27FC236}">
                <a16:creationId xmlns:a16="http://schemas.microsoft.com/office/drawing/2014/main" id="{2050AEAF-96EC-4242-ABDB-D0D6F0B8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434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28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Orientación del host</a:t>
            </a:r>
          </a:p>
        </p:txBody>
      </p:sp>
      <p:sp>
        <p:nvSpPr>
          <p:cNvPr id="27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C7F9BF73-3CC4-4211-A77A-F151754E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 estructura física y la jerarquía documental se preservan. Obsidian aporta navegación; no crea autoridad.</a:t>
            </a:r>
          </a:p>
        </p:txBody>
      </p:sp>
    </p:spTree>
    <p:extLst>
      <p:ext uri="{BB962C8B-B14F-4D97-AF65-F5344CB8AC3E}">
        <p14:creationId xmlns:p14="http://schemas.microsoft.com/office/powerpoint/2010/main" val="172091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1A69CA4C-705B-454B-B9FA-5ECBAFE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DIRECTORIOS Y COMPATIBILIDAD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B49224FC-AB5B-4558-836E-16F45353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Migrar configuración y datos compartidos; no borrarlos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AA564-E615-41B7-AE93-CDFA914E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number-6">
            <a:extLst xmlns:a="http://schemas.openxmlformats.org/drawingml/2006/main">
              <a:ext uri="{FF2B5EF4-FFF2-40B4-BE49-F238E27FC236}">
                <a16:creationId xmlns:a16="http://schemas.microsoft.com/office/drawing/2014/main" id="{A4A474FA-698B-44AB-BFBF-12C6D1A4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D5829-C2CC-4A62-980C-08FEB392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813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921E5-395D-4F9C-9C08-844C3FC8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card-title-64-185">
            <a:extLst xmlns:a="http://schemas.openxmlformats.org/drawingml/2006/main">
              <a:ext uri="{FF2B5EF4-FFF2-40B4-BE49-F238E27FC236}">
                <a16:creationId xmlns:a16="http://schemas.microsoft.com/office/drawing/2014/main" id="{77D0309B-8776-4437-8EBC-4B02A789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90725"/>
            <a:ext cx="2886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.obsidian/</a:t>
            </a:r>
          </a:p>
        </p:txBody>
      </p:sp>
      <p:sp>
        <p:nvSpPr>
          <p:cNvPr id="8" name="card-body-64-185">
            <a:extLst xmlns:a="http://schemas.openxmlformats.org/drawingml/2006/main">
              <a:ext uri="{FF2B5EF4-FFF2-40B4-BE49-F238E27FC236}">
                <a16:creationId xmlns:a16="http://schemas.microsoft.com/office/drawing/2014/main" id="{F06AD991-8169-49B6-BECB-86628B85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886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Crear configuración en la raíz y migrar selectivamente ajustes, plugins y temas. Mantener copia hasta validar.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84D91-FBF2-4794-ADE8-65674451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33813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CEC25-F306-4A92-BD04-2BCA5A6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621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0">
            <a:solidFill>
              <a:srgbClr val="12B76A"/>
            </a:solidFill>
            <a:prstDash val="solid"/>
          </a:ln>
        </p:spPr>
      </p:sp>
      <p:sp>
        <p:nvSpPr>
          <p:cNvPr id="11" name="card-title-465-185">
            <a:extLst xmlns:a="http://schemas.openxmlformats.org/drawingml/2006/main">
              <a:ext uri="{FF2B5EF4-FFF2-40B4-BE49-F238E27FC236}">
                <a16:creationId xmlns:a16="http://schemas.microsoft.com/office/drawing/2014/main" id="{CDE823CF-ED73-4ADE-AEA4-304729C5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990725"/>
            <a:ext cx="2886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.vault-operator/</a:t>
            </a:r>
          </a:p>
        </p:txBody>
      </p:sp>
      <p:sp>
        <p:nvSpPr>
          <p:cNvPr id="12" name="card-body-465-185">
            <a:extLst xmlns:a="http://schemas.openxmlformats.org/drawingml/2006/main">
              <a:ext uri="{FF2B5EF4-FFF2-40B4-BE49-F238E27FC236}">
                <a16:creationId xmlns:a16="http://schemas.microsoft.com/office/drawing/2014/main" id="{95B652F7-631A-4B67-9033-B1307D53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66975"/>
            <a:ext cx="2886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Migrar o regenerar bajo la nueva raíz tras copia de seguridad y prueba del plugin.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F75A9-2498-40BA-B792-C5F2517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3381375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29699-1246-48C1-81C1-09FC78D4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62125"/>
            <a:ext cx="76200" cy="1666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0">
            <a:solidFill>
              <a:srgbClr val="F79009"/>
            </a:solidFill>
            <a:prstDash val="solid"/>
          </a:ln>
        </p:spPr>
      </p:sp>
      <p:sp>
        <p:nvSpPr>
          <p:cNvPr id="15" name="card-title-866-185">
            <a:extLst xmlns:a="http://schemas.openxmlformats.org/drawingml/2006/main">
              <a:ext uri="{FF2B5EF4-FFF2-40B4-BE49-F238E27FC236}">
                <a16:creationId xmlns:a16="http://schemas.microsoft.com/office/drawing/2014/main" id="{812FF2D6-39ED-45E1-83C5-B0C35763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90725"/>
            <a:ext cx="28860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.obsidian-agent/</a:t>
            </a:r>
          </a:p>
        </p:txBody>
      </p:sp>
      <p:sp>
        <p:nvSpPr>
          <p:cNvPr id="16" name="card-body-866-185">
            <a:extLst xmlns:a="http://schemas.openxmlformats.org/drawingml/2006/main">
              <a:ext uri="{FF2B5EF4-FFF2-40B4-BE49-F238E27FC236}">
                <a16:creationId xmlns:a16="http://schemas.microsoft.com/office/drawing/2014/main" id="{53AD1B79-0054-45CD-92B6-BEBC8CEE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66975"/>
            <a:ext cx="28860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Inventariar primero. No trasladar ni eliminar sin confirmar qué lo consume.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C6953-550A-45F7-A820-9497160F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53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shared-title">
            <a:extLst xmlns:a="http://schemas.openxmlformats.org/drawingml/2006/main">
              <a:ext uri="{FF2B5EF4-FFF2-40B4-BE49-F238E27FC236}">
                <a16:creationId xmlns:a16="http://schemas.microsoft.com/office/drawing/2014/main" id="{675B33D2-FE80-4393-84A7-7527CCD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Datos compartidos de Vault Operator</a:t>
            </a:r>
          </a:p>
        </p:txBody>
      </p:sp>
      <p:sp>
        <p:nvSpPr>
          <p:cNvPr id="19" name="shared-body">
            <a:extLst xmlns:a="http://schemas.openxmlformats.org/drawingml/2006/main">
              <a:ext uri="{FF2B5EF4-FFF2-40B4-BE49-F238E27FC236}">
                <a16:creationId xmlns:a16="http://schemas.microsoft.com/office/drawing/2014/main" id="{CAC9E2E9-6C6E-4829-83D8-154CF8C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1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Trasladar `obsilo-shared/` y `vault-operator-shared/` a `C:\Users\gusve\Documents\Apps` durante el corte controlado. Mantenerlos separados: el plugin prioriza el primero y el segundo conserva estado propio.</a:t>
            </a:r>
          </a:p>
        </p:txBody>
      </p:sp>
      <p:sp>
        <p:nvSpPr>
          <p:cNvPr id="20" name="safe-rule">
            <a:extLst xmlns:a="http://schemas.openxmlformats.org/drawingml/2006/main">
              <a:ext uri="{FF2B5EF4-FFF2-40B4-BE49-F238E27FC236}">
                <a16:creationId xmlns:a16="http://schemas.microsoft.com/office/drawing/2014/main" id="{C8D5420A-5268-4939-AE8F-148B8358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Regla de seguridad: copiar → adaptar → validar → retirar el origen.</a:t>
            </a:r>
          </a:p>
        </p:txBody>
      </p:sp>
    </p:spTree>
    <p:extLst>
      <p:ext uri="{BB962C8B-B14F-4D97-AF65-F5344CB8AC3E}">
        <p14:creationId xmlns:p14="http://schemas.microsoft.com/office/powerpoint/2010/main" val="11805470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7">
            <a:extLst xmlns:a="http://schemas.openxmlformats.org/drawingml/2006/main">
              <a:ext uri="{FF2B5EF4-FFF2-40B4-BE49-F238E27FC236}">
                <a16:creationId xmlns:a16="http://schemas.microsoft.com/office/drawing/2014/main" id="{93322B4C-A379-4322-A581-3C83A383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PLAN DE MATERIALIZACIÓN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BC880FC-CE8F-47B6-96AD-AAB5DF55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Una implantación en cuatro fases reduce el riesgo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FF23C-13F3-4D49-9E06-ADE90A82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number-7">
            <a:extLst xmlns:a="http://schemas.openxmlformats.org/drawingml/2006/main">
              <a:ext uri="{FF2B5EF4-FFF2-40B4-BE49-F238E27FC236}">
                <a16:creationId xmlns:a16="http://schemas.microsoft.com/office/drawing/2014/main" id="{C578EF82-6218-494E-AE6A-8B9F807A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9E5D2-38C2-465A-896F-7CC0AAB0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6" name="phase-num-0">
            <a:extLst xmlns:a="http://schemas.openxmlformats.org/drawingml/2006/main">
              <a:ext uri="{FF2B5EF4-FFF2-40B4-BE49-F238E27FC236}">
                <a16:creationId xmlns:a16="http://schemas.microsoft.com/office/drawing/2014/main" id="{798DE37B-F6AE-417C-B3EC-8883BBD5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93098307-0D15-4983-AF17-028B99F5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73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Inventario y respaldo</a:t>
            </a:r>
          </a:p>
        </p:txBody>
      </p:sp>
      <p:sp>
        <p:nvSpPr>
          <p:cNvPr id="8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32DB5F92-BA3E-4CE1-AB89-C6D48E5C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Rutas, tamaños y dependencias; copia recuperable.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FBB8C-5702-4B10-B194-2CA3E4F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837B4-DFFF-49AD-8CE4-A1287031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1" name="phase-num-1">
            <a:extLst xmlns:a="http://schemas.openxmlformats.org/drawingml/2006/main">
              <a:ext uri="{FF2B5EF4-FFF2-40B4-BE49-F238E27FC236}">
                <a16:creationId xmlns:a16="http://schemas.microsoft.com/office/drawing/2014/main" id="{679CA045-6E93-4E1F-97D5-940EB658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288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BBAC65A8-8383-411D-BADE-C0D2981B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146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Bóveda piloto</a:t>
            </a:r>
          </a:p>
        </p:txBody>
      </p:sp>
      <p:sp>
        <p:nvSpPr>
          <p:cNvPr id="13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5A6D02A1-B8E6-4E0E-BC37-F2F06FB1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385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00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Nueva configuración raíz; migración selectiva sin borrar.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A81BA-517C-42BD-91E2-B4337DE1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238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04301-88DC-4926-AA3C-626FB887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6" name="phase-num-2">
            <a:extLst xmlns:a="http://schemas.openxmlformats.org/drawingml/2006/main">
              <a:ext uri="{FF2B5EF4-FFF2-40B4-BE49-F238E27FC236}">
                <a16:creationId xmlns:a16="http://schemas.microsoft.com/office/drawing/2014/main" id="{D1DABFC7-99F0-44FB-B0FA-FA3C5267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CAC0775E-5DEB-4C25-AA85-B4992E6D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146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Validación</a:t>
            </a:r>
          </a:p>
        </p:txBody>
      </p:sp>
      <p:sp>
        <p:nvSpPr>
          <p:cNvPr id="18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8F18F7B8-3085-4D1B-AB13-00E214C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Búsqueda, backlinks, URIs, Vault Operator y exclusiones.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ADE2B-B1FF-49FB-A633-C7990756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385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28310-F110-47C8-9131-8F402079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0" cy="24765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phase-num-3">
            <a:extLst xmlns:a="http://schemas.openxmlformats.org/drawingml/2006/main">
              <a:ext uri="{FF2B5EF4-FFF2-40B4-BE49-F238E27FC236}">
                <a16:creationId xmlns:a16="http://schemas.microsoft.com/office/drawing/2014/main" id="{B7D8474C-9D65-48AE-9690-28C59987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288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phase-title-3">
            <a:extLst xmlns:a="http://schemas.openxmlformats.org/drawingml/2006/main">
              <a:ext uri="{FF2B5EF4-FFF2-40B4-BE49-F238E27FC236}">
                <a16:creationId xmlns:a16="http://schemas.microsoft.com/office/drawing/2014/main" id="{8393C118-DBC3-4CED-94D4-342A51B9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146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Consolidación</a:t>
            </a:r>
          </a:p>
        </p:txBody>
      </p:sp>
      <p:sp>
        <p:nvSpPr>
          <p:cNvPr id="23" name="phase-body-3">
            <a:extLst xmlns:a="http://schemas.openxmlformats.org/drawingml/2006/main">
              <a:ext uri="{FF2B5EF4-FFF2-40B4-BE49-F238E27FC236}">
                <a16:creationId xmlns:a16="http://schemas.microsoft.com/office/drawing/2014/main" id="{09289899-7AF6-4538-BF03-E8A7AFFF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385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Documentar, resolver ambigüedades y decidir el destino final.</a:t>
            </a:r>
          </a:p>
        </p:txBody>
      </p:sp>
      <p:sp>
        <p:nvSpPr>
          <p:cNvPr id="24" name="roadmap-note">
            <a:extLst xmlns:a="http://schemas.openxmlformats.org/drawingml/2006/main">
              <a:ext uri="{FF2B5EF4-FFF2-40B4-BE49-F238E27FC236}">
                <a16:creationId xmlns:a16="http://schemas.microsoft.com/office/drawing/2014/main" id="{FFA91DF0-42D4-44BC-9F27-5468F138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3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No hay borrado automático: los directorios de origen solo se retiran después de una validación funcional completa.</a:t>
            </a:r>
          </a:p>
        </p:txBody>
      </p:sp>
    </p:spTree>
    <p:extLst>
      <p:ext uri="{BB962C8B-B14F-4D97-AF65-F5344CB8AC3E}">
        <p14:creationId xmlns:p14="http://schemas.microsoft.com/office/powerpoint/2010/main" val="18060969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8">
            <a:extLst xmlns:a="http://schemas.openxmlformats.org/drawingml/2006/main">
              <a:ext uri="{FF2B5EF4-FFF2-40B4-BE49-F238E27FC236}">
                <a16:creationId xmlns:a16="http://schemas.microsoft.com/office/drawing/2014/main" id="{C94745F1-32F1-4FE2-B002-57834923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CIERRE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1401372-23B2-4AD7-8213-EC0E209C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Decisión solicitada: aprobar la bóveda transversal gobernada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38B26-8D14-4596-802F-3BA11E88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number-8">
            <a:extLst xmlns:a="http://schemas.openxmlformats.org/drawingml/2006/main">
              <a:ext uri="{FF2B5EF4-FFF2-40B4-BE49-F238E27FC236}">
                <a16:creationId xmlns:a16="http://schemas.microsoft.com/office/drawing/2014/main" id="{B05D0028-EC53-4AD8-B7D1-CFC7BD65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2293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decision-statement">
            <a:extLst xmlns:a="http://schemas.openxmlformats.org/drawingml/2006/main">
              <a:ext uri="{FF2B5EF4-FFF2-40B4-BE49-F238E27FC236}">
                <a16:creationId xmlns:a16="http://schemas.microsoft.com/office/drawing/2014/main" id="{28E4C48C-182C-47ED-9B8B-43F231C9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7429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Abrir la raíz del repositorio como bóveda, con exclusiones explícitas y una migración reversible de la configuración y los datos compartidos.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F025C-DE7D-4F20-AC70-653F978C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3000375" cy="19050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03A5C627-AC8A-415C-9CC7-9EE0F257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Alternativa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recomendada</a:t>
            </a:r>
          </a:p>
        </p:txBody>
      </p:sp>
      <p:sp>
        <p:nvSpPr>
          <p:cNvPr id="8" name="decision-number">
            <a:extLst xmlns:a="http://schemas.openxmlformats.org/drawingml/2006/main">
              <a:ext uri="{FF2B5EF4-FFF2-40B4-BE49-F238E27FC236}">
                <a16:creationId xmlns:a16="http://schemas.microsoft.com/office/drawing/2014/main" id="{A1DA619B-5A8A-4C6D-AE2E-9257014E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2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accept-title">
            <a:extLst xmlns:a="http://schemas.openxmlformats.org/drawingml/2006/main">
              <a:ext uri="{FF2B5EF4-FFF2-40B4-BE49-F238E27FC236}">
                <a16:creationId xmlns:a16="http://schemas.microsoft.com/office/drawing/2014/main" id="{93C54D18-DC6E-40EA-8C0D-066FB57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Criterios de aceptación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648EB-BFEE-4D14-A8B1-5B73529F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bullet-452">
            <a:extLst xmlns:a="http://schemas.openxmlformats.org/drawingml/2006/main">
              <a:ext uri="{FF2B5EF4-FFF2-40B4-BE49-F238E27FC236}">
                <a16:creationId xmlns:a16="http://schemas.microsoft.com/office/drawing/2014/main" id="{35BA3154-F3A5-4CF7-BD75-C2A8BC85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977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Los Markdown de docs/, bóveda y .pcs/ se abren desde una sola raíz.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03BB9-A88B-4646-9FD6-8658845C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bullet-514">
            <a:extLst xmlns:a="http://schemas.openxmlformats.org/drawingml/2006/main">
              <a:ext uri="{FF2B5EF4-FFF2-40B4-BE49-F238E27FC236}">
                <a16:creationId xmlns:a16="http://schemas.microsoft.com/office/drawing/2014/main" id="{7B55792D-AEB1-4B90-8F11-84753BC5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977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Las rutas locales no aparecen como lectura ordinaria.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3493C5-EB39-49A1-9354-63BBA8B8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bullet-576">
            <a:extLst xmlns:a="http://schemas.openxmlformats.org/drawingml/2006/main">
              <a:ext uri="{FF2B5EF4-FFF2-40B4-BE49-F238E27FC236}">
                <a16:creationId xmlns:a16="http://schemas.microsoft.com/office/drawing/2014/main" id="{0D6E887F-F7D7-4B86-ADFC-6F14700D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86400"/>
            <a:ext cx="977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Los enlaces ambiguos usan ruta y Vault Operator conserva su contexto.</a:t>
            </a:r>
          </a:p>
        </p:txBody>
      </p:sp>
      <p:sp>
        <p:nvSpPr>
          <p:cNvPr id="16" name="next-step">
            <a:extLst xmlns:a="http://schemas.openxmlformats.org/drawingml/2006/main">
              <a:ext uri="{FF2B5EF4-FFF2-40B4-BE49-F238E27FC236}">
                <a16:creationId xmlns:a16="http://schemas.microsoft.com/office/drawing/2014/main" id="{9FF7E148-44B2-4A5B-B59E-CD82E17C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Siguiente paso si se aprueba: abrir una acción PCS de implantación limitada a inventario, respaldo y bóveda piloto.</a:t>
            </a:r>
          </a:p>
        </p:txBody>
      </p:sp>
    </p:spTree>
    <p:extLst>
      <p:ext uri="{BB962C8B-B14F-4D97-AF65-F5344CB8AC3E}">
        <p14:creationId xmlns:p14="http://schemas.microsoft.com/office/powerpoint/2010/main" val="2124142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2026-07-17T18:49:18.4920000Z</dcterms:created>
  <dcterms:modified xsi:type="dcterms:W3CDTF">2026-07-17T18:49:18.4920000Z</dcterms:modified>
</coreProperties>
</file>